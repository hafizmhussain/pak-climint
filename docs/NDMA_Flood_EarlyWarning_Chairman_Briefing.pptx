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2022 floods: 33 million affected. The question this project answers — can we see the next one coming, for any district of Pakistan, automatically?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manual-fusion pain point — every number in the room today comes from a different office.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30-second version. Everything after it is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localhost:5000 open in the next tab. If internet fails: cached Chenab run still works end-to-end.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why not PMD data: PMD publishes no machine-readable API; these are the automatable official equivalents, and outputs are verified against FFD/PMD bulletins, not replacing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question WILL come from the AI researchers — the answer is the measurement/judgement/language separation.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the genuine data hand-off (weather→river): agents talk with real numbers, not theatre.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real conversation log from a live run — not an illustration.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GIS engineers will probe the district-station logic — answer: EE point-in-polygon at resolve time, one batched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decision ladder mirrors NDMA's advisory→emergency escalation, so outputs drop into existing SOPs.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Finding and documenting the GloFAS bias is a credibility asset, not a weakness — lead with it before anyone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09 July against Meteoblue's 08-Jul precipitation map (23 rain bands, 1-90 mm). The check scripts are reproducible. Key line: differences are explainable and disclosed — that is what data integrity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slide for leadership trust. Pause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saved sitrep briefly — the caveats section demonstrates institutional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internet dies mid-demo: static layers still render, dynamic agents fail loudly and correctly — which itself demonstrates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Volunteering limitations first disarms the hardest questioners — the hydrologists already know most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ask comes next — this slide shows the money and effort are modest and front-loaded on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pilot ask. Then open the WebGIS and take questions on the live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55448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35C48D"/>
                </a:solidFill>
                <a:latin typeface="Segoe UI"/>
              </a:rPr>
              <a:t>Multi-Agent Flood Early-Warning</a:t>
            </a:r>
          </a:p>
          <a:p>
            <a:pPr algn="ctr">
              <a:spcAft>
                <a:spcPts val="400"/>
              </a:spcAft>
            </a:pPr>
            <a:r>
              <a:rPr sz="4400" b="1">
                <a:solidFill>
                  <a:srgbClr val="EEF2F0"/>
                </a:solidFill>
                <a:latin typeface="Segoe UI"/>
              </a:rPr>
              <a:t>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657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EEF2F0"/>
                </a:solidFill>
                <a:latin typeface="Segoe UI"/>
              </a:rPr>
              <a:t>AI-orchestrated  ·  GIS-native  ·  Built entirely on official open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97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9FB0A8"/>
                </a:solidFill>
                <a:latin typeface="Segoe UI"/>
              </a:rPr>
              <a:t>Briefing for the Chairman, National Disaster Management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9FB0A8"/>
                </a:solidFill>
                <a:latin typeface="Segoe UI"/>
              </a:rPr>
              <a:t>Prototype v1  ·  July 2026  ·  NDMA Technical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EEF2F0"/>
                </a:solidFill>
                <a:latin typeface="Segoe UI"/>
              </a:rPr>
              <a:t>The problem we set out to solve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5120640" cy="33020"/>
          </a:xfrm>
          <a:prstGeom prst="rect">
            <a:avLst/>
          </a:prstGeom>
          <a:solidFill>
            <a:srgbClr val="35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657600" cy="178308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2400" b="1">
                <a:solidFill>
                  <a:srgbClr val="35C48D"/>
                </a:solidFill>
                <a:latin typeface="Segoe UI"/>
              </a:rPr>
              <a:t>2010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Superflood — ~2,000 lives lost, 20M affected. Marala Headworks passed ~260,000 cusecs.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9392" y="1234440"/>
            <a:ext cx="3657600" cy="178308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2400" b="1">
                <a:solidFill>
                  <a:srgbClr val="35C48D"/>
                </a:solidFill>
                <a:latin typeface="Segoe UI"/>
              </a:rPr>
              <a:t>2022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Monsoon floods — 33M affected, $30B+ damage. One-third of the country inundated.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55864" y="1234440"/>
            <a:ext cx="3657600" cy="178308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2400" b="1">
                <a:solidFill>
                  <a:srgbClr val="35C48D"/>
                </a:solidFill>
                <a:latin typeface="Segoe UI"/>
              </a:rPr>
              <a:t>Today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Flood intelligence is fragmented: rainfall, river flows, terrain and population sit in separate systems, joined manually under pressure.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429000"/>
            <a:ext cx="11210544" cy="1371600"/>
          </a:xfrm>
          <a:prstGeom prst="roundRect">
            <a:avLst>
              <a:gd name="adj" fmla="val 12000"/>
            </a:avLst>
          </a:prstGeom>
          <a:solidFill>
            <a:srgbClr val="112B22"/>
          </a:solidFill>
          <a:ln w="15240">
            <a:solidFill>
              <a:srgbClr val="35C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500" b="1">
                <a:solidFill>
                  <a:srgbClr val="EEF2F0"/>
                </a:solidFill>
                <a:latin typeface="Segoe UI"/>
              </a:rPr>
              <a:t>Decision-makers need ONE screen that fuses rainfall, river forecasts, terrain and exposure into a single, defensible risk assessment — for ANY basin, province or district — in minutes, not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EEF2F0"/>
                </a:solidFill>
                <a:latin typeface="Segoe UI"/>
              </a:rPr>
              <a:t>What we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5120640" cy="33020"/>
          </a:xfrm>
          <a:prstGeom prst="rect">
            <a:avLst/>
          </a:prstGeom>
          <a:solidFill>
            <a:srgbClr val="35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2400" b="1">
                <a:solidFill>
                  <a:srgbClr val="35C48D"/>
                </a:solidFill>
                <a:latin typeface="Segoe UI"/>
              </a:rPr>
              <a:t>4+1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Specialist agents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Weather · River · Terrain · Exposure, orchestrated by a Coordinator that issues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2400" b="1">
                <a:solidFill>
                  <a:srgbClr val="4AA3DF"/>
                </a:solidFill>
                <a:latin typeface="Segoe UI"/>
              </a:rPr>
              <a:t>130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Areas of interest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5 river basins + 6 provinces + 119 districts — one dropdown drives the entire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18872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2400" b="1">
                <a:solidFill>
                  <a:srgbClr val="35C48D"/>
                </a:solidFill>
                <a:latin typeface="Segoe UI"/>
              </a:rPr>
              <a:t>0–100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Rule-based risk score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Transparent weighted fusion → NDMA-style decision ladder. No black 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18872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2400" b="1">
                <a:solidFill>
                  <a:srgbClr val="4AA3DF"/>
                </a:solidFill>
                <a:latin typeface="Segoe UI"/>
              </a:rPr>
              <a:t>100%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Official open data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NASA · NOAA · Copernicus · USGS · WorldPop. Zero data cost, full licence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83280"/>
            <a:ext cx="5532120" cy="228600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35C48D"/>
                </a:solidFill>
                <a:latin typeface="Segoe UI"/>
              </a:rPr>
              <a:t>Full-screen WebGIS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Dark glass UI · agent-wise layer control · province/district rain choropleths with on-map values · draggable legend · measurement &amp; drawing tools · live station markers coloured by FFD flood category.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383280"/>
            <a:ext cx="5532120" cy="228600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35C48D"/>
                </a:solidFill>
                <a:latin typeface="Segoe UI"/>
              </a:rPr>
              <a:t>Automatic reporting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Every assessment produces a full situation report — saved locally as Markdown + JSON with complete provenance (every number traceable to its agent), plus a browsable report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EEF2F0"/>
                </a:solidFill>
                <a:latin typeface="Segoe UI"/>
              </a:rPr>
              <a:t>Live demonstration — 3 minutes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5120640" cy="33020"/>
          </a:xfrm>
          <a:prstGeom prst="rect">
            <a:avLst/>
          </a:prstGeom>
          <a:solidFill>
            <a:srgbClr val="35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200" b="1">
                <a:solidFill>
                  <a:srgbClr val="35C48D"/>
                </a:solidFill>
                <a:latin typeface="Segoe UI"/>
              </a:rPr>
              <a:t>1 · Select AOI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(e.g. Chenab or any district)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62072" y="118872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200" b="1">
                <a:solidFill>
                  <a:srgbClr val="35C48D"/>
                </a:solidFill>
                <a:latin typeface="Segoe UI"/>
              </a:rPr>
              <a:t>2 · Map loads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terrain, rivers, rain, boundaries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21224" y="118872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200" b="1">
                <a:solidFill>
                  <a:srgbClr val="35C48D"/>
                </a:solidFill>
                <a:latin typeface="Segoe UI"/>
              </a:rPr>
              <a:t>3 · Run pipelines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🌧️ 🌊 ⛰️ 👥 independently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0376" y="118872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200" b="1">
                <a:solidFill>
                  <a:srgbClr val="35C48D"/>
                </a:solidFill>
                <a:latin typeface="Segoe UI"/>
              </a:rPr>
              <a:t>4 · Full risk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score · decision · conversation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39528" y="118872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200" b="1">
                <a:solidFill>
                  <a:srgbClr val="35C48D"/>
                </a:solidFill>
                <a:latin typeface="Segoe UI"/>
              </a:rPr>
              <a:t>5 · Report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💾 saved with one click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880360"/>
          <a:ext cx="1121054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93"/>
                <a:gridCol w="7354116"/>
                <a:gridCol w="1524633"/>
              </a:tblGrid>
              <a:tr h="5852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C48D"/>
                          </a:solidFill>
                          <a:latin typeface="Segoe UI"/>
                        </a:rPr>
                        <a:t>Pipeline</a:t>
                      </a:r>
                    </a:p>
                  </a:txBody>
                  <a:tcPr>
                    <a:solidFill>
                      <a:srgbClr val="1432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C48D"/>
                          </a:solidFill>
                          <a:latin typeface="Segoe UI"/>
                        </a:rPr>
                        <a:t>What the Chairman sees</a:t>
                      </a:r>
                    </a:p>
                  </a:txBody>
                  <a:tcPr>
                    <a:solidFill>
                      <a:srgbClr val="1432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C48D"/>
                          </a:solidFill>
                          <a:latin typeface="Segoe UI"/>
                        </a:rPr>
                        <a:t>Typical time</a:t>
                      </a:r>
                    </a:p>
                  </a:txBody>
                  <a:tcPr>
                    <a:solidFill>
                      <a:srgbClr val="143226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🌧️ Weather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Observed 24/72 h + forecast 72 h rain cards (mean &amp; max, data latency shown)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4–13 s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🌊 Disaster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Stations recolour by FFD flood category; worst station named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3–35 s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⛰️ Terrain / 👥 Exposure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AOI area · population &amp; floodplain population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2–3 s (cached)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⚖️ Full risk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Banner: LOW 0/100 → routine monitoring · agent conversation · report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~25 s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EEF2F0"/>
                </a:solidFill>
                <a:latin typeface="Segoe UI"/>
              </a:rPr>
              <a:t>Data foundation — every number has an official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5120640" cy="33020"/>
          </a:xfrm>
          <a:prstGeom prst="rect">
            <a:avLst/>
          </a:prstGeom>
          <a:solidFill>
            <a:srgbClr val="35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21054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8567"/>
                <a:gridCol w="2717707"/>
                <a:gridCol w="1443782"/>
                <a:gridCol w="1613638"/>
                <a:gridCol w="3736848"/>
              </a:tblGrid>
              <a:tr h="6008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C48D"/>
                          </a:solidFill>
                          <a:latin typeface="Segoe UI"/>
                        </a:rPr>
                        <a:t>Domain</a:t>
                      </a:r>
                    </a:p>
                  </a:txBody>
                  <a:tcPr>
                    <a:solidFill>
                      <a:srgbClr val="1432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C48D"/>
                          </a:solidFill>
                          <a:latin typeface="Segoe UI"/>
                        </a:rPr>
                        <a:t>Source (owner)</a:t>
                      </a:r>
                    </a:p>
                  </a:txBody>
                  <a:tcPr>
                    <a:solidFill>
                      <a:srgbClr val="1432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C48D"/>
                          </a:solidFill>
                          <a:latin typeface="Segoe UI"/>
                        </a:rPr>
                        <a:t>Resolution</a:t>
                      </a:r>
                    </a:p>
                  </a:txBody>
                  <a:tcPr>
                    <a:solidFill>
                      <a:srgbClr val="1432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C48D"/>
                          </a:solidFill>
                          <a:latin typeface="Segoe UI"/>
                        </a:rPr>
                        <a:t>Update cycle</a:t>
                      </a:r>
                    </a:p>
                  </a:txBody>
                  <a:tcPr>
                    <a:solidFill>
                      <a:srgbClr val="1432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C48D"/>
                          </a:solidFill>
                          <a:latin typeface="Segoe UI"/>
                        </a:rPr>
                        <a:t>Why chosen</a:t>
                      </a:r>
                    </a:p>
                  </a:txBody>
                  <a:tcPr>
                    <a:solidFill>
                      <a:srgbClr val="143226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🌧️ Observed rain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GPM IMERG V07 (NASA)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~11 km, 30-min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1–3 day latency, shown in UI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Global standard; sees whole basin incl. upstream catchments outside Pakistan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🌦️ Forecast rain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GFS 0.25° (NOAA)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~28 km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4 runs/day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Open operational NWP; latest run auto-selected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🌊 River discharge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GloFAS (Copernicus EU)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0.05°, to +120 h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Daily cycle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Only free operational discharge forecast covering the entire Indus system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⛰️ Terrain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SRTM 30 m (NASA/USGS) + HydroSHEDS (WWF)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30/460 m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Static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Reference global DEM + hydrology derivative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👥 Population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WorldPop 100 m (Univ. Southampton)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100 m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2020 baseline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Humanitarian-planning standard (UN OCHA, WHO)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🗺️ Boundaries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FAO GAUL 2015 L1/L2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500 m simplified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Static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Official UN admin layers; disputed areas handled explicitly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577840"/>
            <a:ext cx="1121054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35C48D"/>
                </a:solidFill>
                <a:latin typeface="Segoe UI"/>
              </a:rPr>
              <a:t>Classification: Pakistan FFD flood-limit bands (cusecs, per station)   ·   Total data cost: $0   ·   Sources documented in code headers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EEF2F0"/>
                </a:solidFill>
                <a:latin typeface="Segoe UI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5120640" cy="33020"/>
          </a:xfrm>
          <a:prstGeom prst="rect">
            <a:avLst/>
          </a:prstGeom>
          <a:solidFill>
            <a:srgbClr val="35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300" b="1">
                <a:solidFill>
                  <a:srgbClr val="35C48D"/>
                </a:solidFill>
                <a:latin typeface="Segoe UI"/>
              </a:rPr>
              <a:t>Browser WebGIS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Leaflet · vanilla JS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presentation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1874519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5C48D"/>
                </a:solidFill>
                <a:latin typeface="Segoe UI"/>
              </a:rPr>
              <a:t>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7288" y="123444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300" b="1">
                <a:solidFill>
                  <a:srgbClr val="35C48D"/>
                </a:solidFill>
                <a:latin typeface="Segoe UI"/>
              </a:rPr>
              <a:t>Flask API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12 JSON endpoints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thin — zero analysis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71616" y="1874519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5C48D"/>
                </a:solidFill>
                <a:latin typeface="Segoe UI"/>
              </a:rPr>
              <a:t>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91656" y="123444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300" b="1">
                <a:solidFill>
                  <a:srgbClr val="35C48D"/>
                </a:solidFill>
                <a:latin typeface="Segoe UI"/>
              </a:rPr>
              <a:t>Agent layer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ALL logic lives here once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weather · river · terrain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population · coordinator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report · AOI resolver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5984" y="1874519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5C48D"/>
                </a:solidFill>
                <a:latin typeface="Segoe UI"/>
              </a:rPr>
              <a:t>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36024" y="1234440"/>
            <a:ext cx="2697480" cy="1874519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300" b="1">
                <a:solidFill>
                  <a:srgbClr val="35C48D"/>
                </a:solidFill>
                <a:latin typeface="Segoe UI"/>
              </a:rPr>
              <a:t>External services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Google Earth Engine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Copernicus EWDS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Anthropic (warning text only)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52044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35C48D"/>
                </a:solidFill>
                <a:latin typeface="Segoe UI"/>
              </a:rPr>
              <a:t>Separation of concerns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Measurement (4 deterministic agents) · Judgement (rule-based coordinator) · Language (LLM, wording only). Each layer independently testable and replaceable.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352044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35C48D"/>
                </a:solidFill>
                <a:latin typeface="Segoe UI"/>
              </a:rPr>
              <a:t>Compute where the data lives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Heavy geoprocessing (zonal stats, terrain) runs on Google's Earth Engine servers — our machine only orchestrates. Batched calls: 1–2 round-trips per agent.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352044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35C48D"/>
                </a:solidFill>
                <a:latin typeface="Segoe UI"/>
              </a:rPr>
              <a:t>Two frontends, one brain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Streamlit for internal iteration; Flask + Leaflet WebGIS for operations. Both call the same agent modules — logic exists exactly once.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EEF2F0"/>
                </a:solidFill>
                <a:latin typeface="Segoe UI"/>
              </a:rPr>
              <a:t>The specialist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5120640" cy="33020"/>
          </a:xfrm>
          <a:prstGeom prst="rect">
            <a:avLst/>
          </a:prstGeom>
          <a:solidFill>
            <a:srgbClr val="35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400" b="1">
                <a:solidFill>
                  <a:srgbClr val="35C48D"/>
                </a:solidFill>
                <a:latin typeface="Segoe UI"/>
              </a:rPr>
              <a:t>🌧️ Weather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>In: AOI geometry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>Out: 24/72 h observed + 72 h forecast rain (AOI mean &amp; max), data latency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/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>Windows anchor to newest satellite image — staleness is measured, never hidden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18872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400" b="1">
                <a:solidFill>
                  <a:srgbClr val="35C48D"/>
                </a:solidFill>
                <a:latin typeface="Segoe UI"/>
              </a:rPr>
              <a:t>🌊 River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>In: in-AOI stations + weather's rain outlook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>Out: discharge per station (+24…+120 h) in FFD categories; worst station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/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>Channel-snapping window fixes grid offsets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18872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400" b="1">
                <a:solidFill>
                  <a:srgbClr val="35C48D"/>
                </a:solidFill>
                <a:latin typeface="Segoe UI"/>
              </a:rPr>
              <a:t>⛰️ Terrain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>In: AOI geometry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>Out: DEM, slope, flow-accumulation GeoTIFFs + AOI area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/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>Static — computed once per AOI, cached forever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118872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400" b="1">
                <a:solidFill>
                  <a:srgbClr val="35C48D"/>
                </a:solidFill>
                <a:latin typeface="Segoe UI"/>
              </a:rPr>
              <a:t>👥 Exposure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>In: AOI geometry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>Out: total + floodplain population (slope&lt;2° proxy)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/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>e.g. Chenab: 69.1M total, 51M floodplain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51960"/>
            <a:ext cx="11210544" cy="1737360"/>
          </a:xfrm>
          <a:prstGeom prst="roundRect">
            <a:avLst>
              <a:gd name="adj" fmla="val 12000"/>
            </a:avLst>
          </a:prstGeom>
          <a:solidFill>
            <a:srgbClr val="112B22"/>
          </a:solidFill>
          <a:ln w="15240">
            <a:solidFill>
              <a:srgbClr val="35C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EEF2F0"/>
                </a:solidFill>
                <a:latin typeface="Segoe UI"/>
              </a:rPr>
              <a:t>COORDINATOR resolves the AOI once, runs the four specialists, hands the weather agent's rain outlook to the river agent as context, logs every hand-off into an auditable conversation, fuses components into the score and decision — then commissions the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EEF2F0"/>
                </a:solidFill>
                <a:latin typeface="Segoe UI"/>
              </a:rPr>
              <a:t>Agents talk — and the conversation is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5120640" cy="33020"/>
          </a:xfrm>
          <a:prstGeom prst="rect">
            <a:avLst/>
          </a:prstGeom>
          <a:solidFill>
            <a:srgbClr val="35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210544" cy="3566160"/>
          </a:xfrm>
          <a:prstGeom prst="roundRect">
            <a:avLst>
              <a:gd name="adj" fmla="val 4000"/>
            </a:avLst>
          </a:prstGeom>
          <a:solidFill>
            <a:srgbClr val="1A2420"/>
          </a:solidFill>
          <a:ln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35C48D"/>
                </a:solidFill>
                <a:latin typeface="Consolas"/>
              </a:rPr>
              <a:t>coordinator → all agents:</a:t>
            </a:r>
            <a:r>
              <a:rPr sz="1250">
                <a:solidFill>
                  <a:srgbClr val="EEF2F0"/>
                </a:solidFill>
                <a:latin typeface="Consolas"/>
              </a:rPr>
              <a:t> New assessment for AOI 'chenab'. Resolving geometry and in-AOI FFD stations.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5C48D"/>
                </a:solidFill>
                <a:latin typeface="Consolas"/>
              </a:rPr>
              <a:t>coordinator → terrain:</a:t>
            </a:r>
            <a:r>
              <a:rPr sz="1250">
                <a:solidFill>
                  <a:srgbClr val="EEF2F0"/>
                </a:solidFill>
                <a:latin typeface="Consolas"/>
              </a:rPr>
              <a:t> Prepare static terrain layers for Chenab basin.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4AA3DF"/>
                </a:solidFill>
                <a:latin typeface="Consolas"/>
              </a:rPr>
              <a:t>terrain → coordinator:</a:t>
            </a:r>
            <a:r>
              <a:rPr sz="1250">
                <a:solidFill>
                  <a:srgbClr val="EEF2F0"/>
                </a:solidFill>
                <a:latin typeface="Consolas"/>
              </a:rPr>
              <a:t> Layers ready. AOI area 88,788 km²; DEM/slope/flow-accumulation cached.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4AA3DF"/>
                </a:solidFill>
                <a:latin typeface="Consolas"/>
              </a:rPr>
              <a:t>weather → river:</a:t>
            </a:r>
            <a:r>
              <a:rPr sz="1250">
                <a:solidFill>
                  <a:srgbClr val="EEF2F0"/>
                </a:solidFill>
                <a:latin typeface="Consolas"/>
              </a:rPr>
              <a:t> Rain outlook for your discharge context: 10.9 mm fell (72 h basin mean, 32 h latency); 11.5 mm forecast next 72 h.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4AA3DF"/>
                </a:solidFill>
                <a:latin typeface="Consolas"/>
              </a:rPr>
              <a:t>river → coordinator:</a:t>
            </a:r>
            <a:r>
              <a:rPr sz="1250">
                <a:solidFill>
                  <a:srgbClr val="EEF2F0"/>
                </a:solidFill>
                <a:latin typeface="Consolas"/>
              </a:rPr>
              <a:t> Worst station Trimmu: normal (1,417 m³/s peak over 120 h horizon).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5C48D"/>
                </a:solidFill>
                <a:latin typeface="Consolas"/>
              </a:rPr>
              <a:t>coordinator → decision:</a:t>
            </a:r>
            <a:r>
              <a:rPr sz="1250">
                <a:solidFill>
                  <a:srgbClr val="EEF2F0"/>
                </a:solidFill>
                <a:latin typeface="Consolas"/>
              </a:rPr>
              <a:t> Components {river: 0, rain_forecast: 0, rain_observed: 0} → score 0/100 (low).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5C48D"/>
                </a:solidFill>
                <a:latin typeface="Consolas"/>
              </a:rPr>
              <a:t>decision → report:</a:t>
            </a:r>
            <a:r>
              <a:rPr sz="1250">
                <a:solidFill>
                  <a:srgbClr val="EEF2F0"/>
                </a:solidFill>
                <a:latin typeface="Consolas"/>
              </a:rPr>
              <a:t> Generate the situation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83480"/>
            <a:ext cx="1121054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EF2F0"/>
                </a:solidFill>
                <a:latin typeface="Segoe UI"/>
              </a:rPr>
              <a:t>Every message is generated by rules from the real numbers — no LLM — and stored in the saved JSON. The full reasoning chain of any warning can be audited months later.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EEF2F0"/>
                </a:solidFill>
                <a:latin typeface="Segoe UI"/>
              </a:rPr>
              <a:t>One selector, any geography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5120640" cy="33020"/>
          </a:xfrm>
          <a:prstGeom prst="rect">
            <a:avLst/>
          </a:prstGeom>
          <a:solidFill>
            <a:srgbClr val="35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300" b="1">
                <a:solidFill>
                  <a:srgbClr val="35C48D"/>
                </a:solidFill>
                <a:latin typeface="Segoe UI"/>
              </a:rPr>
              <a:t>"chenab"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river basin (HydroBASINS union)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118872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300" b="1">
                <a:solidFill>
                  <a:srgbClr val="35C48D"/>
                </a:solidFill>
                <a:latin typeface="Segoe UI"/>
              </a:rPr>
              <a:t>"province:Punjab"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GAUL level-1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118872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300" b="1">
                <a:solidFill>
                  <a:srgbClr val="35C48D"/>
                </a:solidFill>
                <a:latin typeface="Segoe UI"/>
              </a:rPr>
              <a:t>"district:Multan"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GAUL level-2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18872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200" b="1">
                <a:solidFill>
                  <a:srgbClr val="4AA3DF"/>
                </a:solidFill>
                <a:latin typeface="Segoe UI"/>
              </a:rPr>
              <a:t>→ AOI resolver → everything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geometry · cache key · in-AOI FFD stations · GloFAS window → layers, outline, pipelines, risk,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112105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EF2F0"/>
                </a:solidFill>
                <a:latin typeface="Segoe UI"/>
              </a:rPr>
              <a:t>▪  Stations follow geography: a district's river assessment uses whichever gauged FFD stations physically fall inside its polygon — verified spatially, not assumed.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EF2F0"/>
                </a:solidFill>
                <a:latin typeface="Segoe UI"/>
              </a:rPr>
              <a:t>▪  Honest gaps: a district with no gauge runs in DEGRADED mode — the river component is dropped and declared, never fabricated.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EF2F0"/>
                </a:solidFill>
                <a:latin typeface="Segoe UI"/>
              </a:rPr>
              <a:t>▪  Rain choropleths are clipped to the AOI with values printed on each polygon — provincial and district forecast maps answer NDMA's "who gets how much rain, where" directly.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212080"/>
            <a:ext cx="11210544" cy="914400"/>
          </a:xfrm>
          <a:prstGeom prst="roundRect">
            <a:avLst>
              <a:gd name="adj" fmla="val 12000"/>
            </a:avLst>
          </a:prstGeom>
          <a:solidFill>
            <a:srgbClr val="112B22"/>
          </a:solidFill>
          <a:ln w="15240">
            <a:solidFill>
              <a:srgbClr val="35C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EEF2F0"/>
                </a:solidFill>
                <a:latin typeface="Segoe UI"/>
              </a:rPr>
              <a:t>Adding a new AOI is a registry entry — NOT new code. All 119 districts of Pakistan work today.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EEF2F0"/>
                </a:solidFill>
                <a:latin typeface="Segoe UI"/>
              </a:rPr>
              <a:t>Risk fusion — transparent, reproducible, rule-based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5120640" cy="33020"/>
          </a:xfrm>
          <a:prstGeom prst="rect">
            <a:avLst/>
          </a:prstGeom>
          <a:solidFill>
            <a:srgbClr val="35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3657600" cy="164592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35C48D"/>
                </a:solidFill>
                <a:latin typeface="Segoe UI"/>
              </a:rPr>
              <a:t>River · weight 0.5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>Worst-station FFD category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>normal 0 → low 30 → medium 50 → high 70 → very high 90 → exceptional 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9392" y="1188720"/>
            <a:ext cx="3657600" cy="164592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35C48D"/>
                </a:solidFill>
                <a:latin typeface="Segoe UI"/>
              </a:rPr>
              <a:t>Forecast rain · 0.3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>GFS 72 h AOI-mean (mm)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>≥25→20 · ≥35→40 · ≥50→60 · ≥70→80 · ≥90→100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55864" y="1188720"/>
            <a:ext cx="3657600" cy="164592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35C48D"/>
                </a:solidFill>
                <a:latin typeface="Segoe UI"/>
              </a:rPr>
              <a:t>Observed rain · 0.2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>GPM 72 h AOI-mean (mm)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EEF2F0"/>
                </a:solidFill>
                <a:latin typeface="Segoe UI"/>
              </a:rPr>
              <a:t>same calibrated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017520"/>
            <a:ext cx="1121054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EF2F0"/>
                </a:solidFill>
                <a:latin typeface="Segoe UI"/>
              </a:rPr>
              <a:t>score = Σ weightᵢ · componentᵢ / Σ weightᵢ    (failed agents dropped, weights renormalised, "degraded" flagged)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94760"/>
            <a:ext cx="2697480" cy="123444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&lt; 20 · LOW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routine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1" y="3794760"/>
            <a:ext cx="2697480" cy="1234440"/>
          </a:xfrm>
          <a:prstGeom prst="roundRect">
            <a:avLst>
              <a:gd name="adj" fmla="val 10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&lt; 40 · MODERATE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advisory to PDMA/districts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3794760"/>
            <a:ext cx="2697480" cy="123444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&lt; 60 · HIGH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flood alert · pre-position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89136" y="3794760"/>
            <a:ext cx="2697480" cy="123444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≥ 60 · SEVERE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flood warning · activate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03520"/>
            <a:ext cx="1121054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9FB0A8"/>
                </a:solidFill>
                <a:latin typeface="Segoe UI"/>
              </a:rPr>
              <a:t>Anyone in this room can recompute the score from the report tables with a calculator. That is deliberate.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EEF2F0"/>
                </a:solidFill>
                <a:latin typeface="Segoe UI"/>
              </a:rPr>
              <a:t>Calibrated on Pakistan's own flood history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5120640" cy="33020"/>
          </a:xfrm>
          <a:prstGeom prst="rect">
            <a:avLst/>
          </a:prstGeom>
          <a:solidFill>
            <a:srgbClr val="35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2200" b="1">
                <a:solidFill>
                  <a:srgbClr val="35C48D"/>
                </a:solidFill>
                <a:latin typeface="Segoe UI"/>
              </a:rPr>
              <a:t>~100 mm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2010 superflood — peak 72 h basin-mean rainfall (GPM backtest, Chenab)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9392" y="118872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2200" b="1">
                <a:solidFill>
                  <a:srgbClr val="35C48D"/>
                </a:solidFill>
                <a:latin typeface="Segoe UI"/>
              </a:rPr>
              <a:t>~51 mm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2022 floods — clearly separated from the non-flood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55864" y="1188720"/>
            <a:ext cx="3657600" cy="146304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2200" b="1">
                <a:solidFill>
                  <a:srgbClr val="35C48D"/>
                </a:solidFill>
                <a:latin typeface="Segoe UI"/>
              </a:rPr>
              <a:t>~34 mm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2018 ordinary monsoon (control) — correctly stays 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112105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EF2F0"/>
                </a:solidFill>
                <a:latin typeface="Segoe UI"/>
              </a:rPr>
              <a:t>▪  Rain thresholds were rejected and recalibrated when the first metric (basin-max) failed the 2018 control — the system is tuned to discriminate, not to alarm.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EF2F0"/>
                </a:solidFill>
                <a:latin typeface="Segoe UI"/>
              </a:rPr>
              <a:t>▪  Discharge backtest ranks 2010 &gt; 2022 ≈ 2018 correctly, and quantified a real bias: GloFAS runs ~2× low vs FFD-reported flows (2010 Marala: GloFAS ~114k vs ~260k reported cusecs).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EF2F0"/>
                </a:solidFill>
                <a:latin typeface="Segoe UI"/>
              </a:rPr>
              <a:t>▪  That bias is printed as a caveat in every report: river categories are conservative until per-station correction lands. We publish our known weaknesses.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212080"/>
            <a:ext cx="11210544" cy="914400"/>
          </a:xfrm>
          <a:prstGeom prst="roundRect">
            <a:avLst>
              <a:gd name="adj" fmla="val 12000"/>
            </a:avLst>
          </a:prstGeom>
          <a:solidFill>
            <a:srgbClr val="112B22"/>
          </a:solidFill>
          <a:ln w="15240">
            <a:solidFill>
              <a:srgbClr val="35C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EEF2F0"/>
                </a:solidFill>
                <a:latin typeface="Segoe UI"/>
              </a:rPr>
              <a:t>Validation artefacts are reproducible scripts in the repo — hydrologists can rerun them today.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EEF2F0"/>
                </a:solidFill>
                <a:latin typeface="Segoe UI"/>
              </a:rPr>
              <a:t>Cross-validated against an independent commercial provider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5120640" cy="33020"/>
          </a:xfrm>
          <a:prstGeom prst="rect">
            <a:avLst/>
          </a:prstGeom>
          <a:solidFill>
            <a:srgbClr val="35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5532120" cy="155448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35C48D"/>
                </a:solidFill>
                <a:latin typeface="Segoe UI"/>
              </a:rPr>
              <a:t>The test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Meteoblue 'precip today' map for 08 Jul 2026 (23 rainfall bands, 1–90 mm, ~4 km multi-model) compared zonally against our NASA GPM (observed) and NOAA GFS (forecast) for the same 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188720"/>
            <a:ext cx="5532120" cy="155448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4AA3DF"/>
                </a:solidFill>
                <a:latin typeface="Segoe UI"/>
              </a:rPr>
              <a:t>The result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Within Pakistan, all three products agree: a light-rain day (≤12 mm) — matching the dashboard's live values. Spatial rank correlation 0.5–0.7: where Meteoblue paints more rain, our data shows more rain.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3017520"/>
          <a:ext cx="11210543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7131"/>
                <a:gridCol w="6653412"/>
              </a:tblGrid>
              <a:tr h="4800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C48D"/>
                          </a:solidFill>
                          <a:latin typeface="Segoe UI"/>
                        </a:rPr>
                        <a:t>Apparent difference</a:t>
                      </a:r>
                    </a:p>
                  </a:txBody>
                  <a:tcPr>
                    <a:solidFill>
                      <a:srgbClr val="1432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C48D"/>
                          </a:solidFill>
                          <a:latin typeface="Segoe UI"/>
                        </a:rPr>
                        <a:t>Verified explanation</a:t>
                      </a:r>
                    </a:p>
                  </a:txBody>
                  <a:tcPr>
                    <a:solidFill>
                      <a:srgbClr val="143226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Meteoblue's heavy bands (12–90 mm) missing from our AOIs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0% of those bands lie inside Pakistan — they are in India (76–79°E); no Pakistani AOI is affected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Meteoblue peaks sharper than GFS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~4 km model resolves local convection that a 25 km global model smooths — a model-resolution property, not an error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Satellite (GPM) totals lower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Observed day was 18/48 images published at check time — the exact 1–3 day latency the UI already displays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212080"/>
            <a:ext cx="11210544" cy="1005840"/>
          </a:xfrm>
          <a:prstGeom prst="roundRect">
            <a:avLst>
              <a:gd name="adj" fmla="val 12000"/>
            </a:avLst>
          </a:prstGeom>
          <a:solidFill>
            <a:srgbClr val="112B22"/>
          </a:solidFill>
          <a:ln w="15240">
            <a:solidFill>
              <a:srgbClr val="35C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EEF2F0"/>
                </a:solidFill>
                <a:latin typeface="Segoe UI"/>
              </a:rPr>
              <a:t>Every difference between our data and an independent provider is explainable, quantified, and already disclosed on-screen.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EEF2F0"/>
                </a:solidFill>
                <a:latin typeface="Segoe UI"/>
              </a:rPr>
              <a:t>Where AI is — and where it is not allowed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5120640" cy="33020"/>
          </a:xfrm>
          <a:prstGeom prst="rect">
            <a:avLst/>
          </a:prstGeom>
          <a:solidFill>
            <a:srgbClr val="35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1121054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7706"/>
                <a:gridCol w="3098849"/>
                <a:gridCol w="5103987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C48D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>
                    <a:solidFill>
                      <a:srgbClr val="1432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C48D"/>
                          </a:solidFill>
                          <a:latin typeface="Segoe UI"/>
                        </a:rPr>
                        <a:t>AI?</a:t>
                      </a:r>
                    </a:p>
                  </a:txBody>
                  <a:tcPr>
                    <a:solidFill>
                      <a:srgbClr val="1432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C48D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>
                    <a:solidFill>
                      <a:srgbClr val="14322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Data acquisition (4 agents)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No — deterministic code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Numbers must be measurements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Risk score · level · decision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No — fixed rules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Must be reproducible &amp; auditable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Agent conversation log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No — rule-generated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Evidence, not narrative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Situation report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No — template over computed values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Every figure traceable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Public warning wording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YES — one LLM call (Anthropic)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Phrasing only; forbidden to invent/change/recompute any figure; template fallback if offline; operator reviews before dissemination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4892040"/>
            <a:ext cx="11210544" cy="1234440"/>
          </a:xfrm>
          <a:prstGeom prst="roundRect">
            <a:avLst>
              <a:gd name="adj" fmla="val 12000"/>
            </a:avLst>
          </a:prstGeom>
          <a:solidFill>
            <a:srgbClr val="112B22"/>
          </a:solidFill>
          <a:ln w="15240">
            <a:solidFill>
              <a:srgbClr val="35C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500" b="1">
                <a:solidFill>
                  <a:srgbClr val="EEF2F0"/>
                </a:solidFill>
                <a:latin typeface="Segoe UI"/>
              </a:rPr>
              <a:t>No AI system ever produces a NUMBER or a DECISION on this platform. Hallucination is prevented BY ARCHITECTURE — not by hoping the model behaves.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EEF2F0"/>
                </a:solidFill>
                <a:latin typeface="Segoe UI"/>
              </a:rPr>
              <a:t>Reporting — automatic, local, fully traceable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5120640" cy="33020"/>
          </a:xfrm>
          <a:prstGeom prst="rect">
            <a:avLst/>
          </a:prstGeom>
          <a:solidFill>
            <a:srgbClr val="35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5532120" cy="283464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35C48D"/>
                </a:solidFill>
                <a:latin typeface="Segoe UI"/>
              </a:rPr>
              <a:t>Generated after every decision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• Assessment &amp; decision table · component scores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• Per-station discharge in m³/s AND cusecs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• Rainfall tables with data latency · exposure · explicit caveats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• Saved automatically to data\reports\ as Markdown + JSON, filename = AOI + timestamp — nothing overwritten, history accumulates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188720"/>
            <a:ext cx="5532120" cy="283464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35C48D"/>
                </a:solidFill>
                <a:latin typeface="Segoe UI"/>
              </a:rPr>
              <a:t>Operator workflow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• 💾 Save report button re-saves the on-screen assessment without re-running agents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• Report history panel — any past report opens in one click (MD or JSON)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• The JSON twin holds every agent output and the full conversation — a warning issued today can be reconstructed exactly, months later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343400"/>
            <a:ext cx="11210544" cy="1097280"/>
          </a:xfrm>
          <a:prstGeom prst="roundRect">
            <a:avLst>
              <a:gd name="adj" fmla="val 12000"/>
            </a:avLst>
          </a:prstGeom>
          <a:solidFill>
            <a:srgbClr val="112B22"/>
          </a:solidFill>
          <a:ln w="15240">
            <a:solidFill>
              <a:srgbClr val="35C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EEF2F0"/>
                </a:solidFill>
                <a:latin typeface="Segoe UI"/>
              </a:rPr>
              <a:t>Reproducibility standard: same inputs → same score → same decision → same report. An inquiry can replay any assessment.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EEF2F0"/>
                </a:solidFill>
                <a:latin typeface="Segoe UI"/>
              </a:rPr>
              <a:t>Engineered for failure — degraded, never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5120640" cy="33020"/>
          </a:xfrm>
          <a:prstGeom prst="rect">
            <a:avLst/>
          </a:prstGeom>
          <a:solidFill>
            <a:srgbClr val="35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5532120" cy="329184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35C48D"/>
                </a:solidFill>
                <a:latin typeface="Segoe UI"/>
              </a:rPr>
              <a:t>Graceful degradation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• Agent failure → component dropped, weights renormalised, DEGRADED stamped on banner &amp; report with the failed agent named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• Zero usable data → decision = manual_review. The system never guesses.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• GloFAS not yet published → automatic fallback to yesterday's cycle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• Satellite latency → measured and displayed, not hidden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• LLM offline → deterministic template text; assessment unaffected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188720"/>
            <a:ext cx="5532120" cy="329184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35C48D"/>
                </a:solidFill>
                <a:latin typeface="Segoe UI"/>
              </a:rPr>
              <a:t>Caching — only what cannot change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• Terrain rasters, population totals → static datasets (delete file to refresh)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• GloFAS NetCDF → keyed by forecast date; a day's forecast never changes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• Map tile URLs → 2 h TTL (URLs, never data)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• LIVE RAIN &amp; DISCHARGE STATS → never cached, recomputed every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800600"/>
            <a:ext cx="11210544" cy="1005840"/>
          </a:xfrm>
          <a:prstGeom prst="roundRect">
            <a:avLst>
              <a:gd name="adj" fmla="val 12000"/>
            </a:avLst>
          </a:prstGeom>
          <a:solidFill>
            <a:srgbClr val="112B22"/>
          </a:solidFill>
          <a:ln w="15240">
            <a:solidFill>
              <a:srgbClr val="35C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EEF2F0"/>
                </a:solidFill>
                <a:latin typeface="Segoe UI"/>
              </a:rPr>
              <a:t>Final audit before this briefing: 18/18 end-to-end checks · 7/7 unit tests · all five pipelines verified live on basins, provinces and districts.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EEF2F0"/>
                </a:solidFill>
                <a:latin typeface="Segoe UI"/>
              </a:rPr>
              <a:t>Limitations — stated before you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5120640" cy="33020"/>
          </a:xfrm>
          <a:prstGeom prst="rect">
            <a:avLst/>
          </a:prstGeom>
          <a:solidFill>
            <a:srgbClr val="35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1121054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7990"/>
                <a:gridCol w="3645705"/>
                <a:gridCol w="3736847"/>
              </a:tblGrid>
              <a:tr h="57476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C48D"/>
                          </a:solidFill>
                          <a:latin typeface="Segoe UI"/>
                        </a:rPr>
                        <a:t>Limitation</a:t>
                      </a:r>
                    </a:p>
                  </a:txBody>
                  <a:tcPr>
                    <a:solidFill>
                      <a:srgbClr val="1432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C48D"/>
                          </a:solidFill>
                          <a:latin typeface="Segoe UI"/>
                        </a:rPr>
                        <a:t>Impact</a:t>
                      </a:r>
                    </a:p>
                  </a:txBody>
                  <a:tcPr>
                    <a:solidFill>
                      <a:srgbClr val="1432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5C48D"/>
                          </a:solidFill>
                          <a:latin typeface="Segoe UI"/>
                        </a:rPr>
                        <a:t>Planned fix</a:t>
                      </a:r>
                    </a:p>
                  </a:txBody>
                  <a:tcPr>
                    <a:solidFill>
                      <a:srgbClr val="143226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GloFAS ~2× low vs FFD flows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River categories conservative (under-warn)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Per-station bias correction or return-period thresholds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Non-Chenab FFD bands unverified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Category boundaries approximate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Manual verification against ffd.pmd.gov.pk (site blocks automation)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Floodplain = slope&lt;2° proxy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Exposure indicative, not for evacuation planning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Sentinel-1 SAR inundation mapping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No flash-flood / coastal / urban drainage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Riverine floods only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Out of GloFAS scope — additional agents later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Rain thresholds calibrated on Chenab only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Other basins reuse steps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Per-basin backtests (script exists)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  <a:tr h="57477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Observed rain lags 1–3 days · exposure is 2020 baseline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Quantified &amp; displayed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EEF2F0"/>
                          </a:solidFill>
                          <a:latin typeface="Segoe UI"/>
                        </a:rPr>
                        <a:t>IMERG Early Run · newer WorldPop</a:t>
                      </a:r>
                    </a:p>
                  </a:txBody>
                  <a:tcPr>
                    <a:solidFill>
                      <a:srgbClr val="1A242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440680"/>
            <a:ext cx="11210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9FB0A8"/>
                </a:solidFill>
                <a:latin typeface="Segoe UI"/>
              </a:rPr>
              <a:t>Every one of these is also printed inside the generated reports. A tool that hides its weaknesses cannot be trusted with warnings.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EEF2F0"/>
                </a:solidFill>
                <a:latin typeface="Segoe UI"/>
              </a:rPr>
              <a:t>Roadmap to nationwide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96112"/>
            <a:ext cx="5120640" cy="33020"/>
          </a:xfrm>
          <a:prstGeom prst="rect">
            <a:avLst/>
          </a:prstGeom>
          <a:solidFill>
            <a:srgbClr val="35C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250" b="1">
                <a:solidFill>
                  <a:srgbClr val="35C48D"/>
                </a:solidFill>
                <a:latin typeface="Segoe UI"/>
              </a:rPr>
              <a:t>Phase 1 · Hardening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Verify all FFD bands · GloFAS bias correction · per-basin calibration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~weeks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4991" y="1188720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250" b="1">
                <a:solidFill>
                  <a:srgbClr val="35C48D"/>
                </a:solidFill>
                <a:latin typeface="Segoe UI"/>
              </a:rPr>
              <a:t>Phase 2 · Automation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Scheduled 6-hourly runs, all 119 districts · PostGIS + object storage · production WSGI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~1–2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7064" y="1188720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250" b="1">
                <a:solidFill>
                  <a:srgbClr val="35C48D"/>
                </a:solidFill>
                <a:latin typeface="Segoe UI"/>
              </a:rPr>
              <a:t>Phase 3 · Dissemination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SMS/email alert hooks on the decision ladder · operator review SOP · PDMA dashboards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with NDMA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89136" y="1188720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250" b="1">
                <a:solidFill>
                  <a:srgbClr val="35C48D"/>
                </a:solidFill>
                <a:latin typeface="Segoe UI"/>
              </a:rPr>
              <a:t>Phase 4 · Expansion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Sentinel-1 inundation agent · snowmelt (MODIS) · reservoirs · damage estimation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EEF2F0"/>
                </a:solidFill>
                <a:latin typeface="Segoe UI"/>
              </a:rPr>
              <a:t>continuous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2044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35C48D"/>
                </a:solidFill>
                <a:latin typeface="Segoe UI"/>
              </a:rPr>
              <a:t>Why it scales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Heavy compute already runs on Google's infrastructure; our servers only orchestrate. Nationwide = registry entries + a scheduler, NOT new architecture.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352044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35C48D"/>
                </a:solidFill>
                <a:latin typeface="Segoe UI"/>
              </a:rPr>
              <a:t>Operating cost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Data $0 (all open licences) · Earth Engine research tier · pennies of LLM per assessment (optional). Cost is people, not licences.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5864" y="352044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35C48D"/>
                </a:solidFill>
                <a:latin typeface="Segoe UI"/>
              </a:rPr>
              <a:t>New hazards plug in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Every future capability is just another agent with the same contract: JSON out, conversation in, weight in the fusion.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35C48D"/>
                </a:solidFill>
                <a:latin typeface="Segoe UI"/>
              </a:rPr>
              <a:t>Five pipelines. Official data only.</a:t>
            </a:r>
          </a:p>
          <a:p>
            <a:pPr algn="ctr">
              <a:spcAft>
                <a:spcPts val="400"/>
              </a:spcAft>
            </a:pPr>
            <a:r>
              <a:rPr sz="3200" b="1">
                <a:solidFill>
                  <a:srgbClr val="EEF2F0"/>
                </a:solidFill>
                <a:latin typeface="Segoe UI"/>
              </a:rPr>
              <a:t>Rules decide — AI only speaks.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651760"/>
            <a:ext cx="3657600" cy="246888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35C48D"/>
                </a:solidFill>
                <a:latin typeface="Segoe UI"/>
              </a:rPr>
              <a:t>What exists today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Working end-to-end for every basin, province and district — validated against 2010/2022/2018, fully documented, audited 18/18.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79392" y="2651760"/>
            <a:ext cx="3657600" cy="246888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4AA3DF"/>
                </a:solidFill>
                <a:latin typeface="Segoe UI"/>
              </a:rPr>
              <a:t>What we ask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Endorse a monsoon-season operational pilot: FFD band verification support, 2–3 districts + Chenab, alongside existing procedures.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55864" y="2651760"/>
            <a:ext cx="3657600" cy="2468880"/>
          </a:xfrm>
          <a:prstGeom prst="roundRect">
            <a:avLst>
              <a:gd name="adj" fmla="val 6000"/>
            </a:avLst>
          </a:prstGeom>
          <a:solidFill>
            <a:srgbClr val="1A2420"/>
          </a:solidFill>
          <a:ln w="9525">
            <a:solidFill>
              <a:srgbClr val="3A46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/>
            <a:r>
              <a:rPr sz="1500" b="1">
                <a:solidFill>
                  <a:srgbClr val="35C48D"/>
                </a:solidFill>
                <a:latin typeface="Segoe UI"/>
              </a:rPr>
              <a:t>What Pakistan gets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EEF2F0"/>
                </a:solidFill>
                <a:latin typeface="Segoe UI"/>
              </a:rPr>
              <a:t>A defensible, explainable, sovereign early-warning capability — built on free data, owned by NDMA, expandable hazard by hazard.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9FB0A8"/>
                </a:solidFill>
                <a:latin typeface="Segoe UI"/>
              </a:rPr>
              <a:t>Technical annexes: docs/ARCHITECTURE.md · docs/PRESENTATION_QA.md · live system at localhost:5000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